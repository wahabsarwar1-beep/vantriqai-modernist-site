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194560"/>
            <a:ext cx="6766560" cy="6766560"/>
          </a:xfrm>
          <a:prstGeom prst="ellipse">
            <a:avLst/>
          </a:prstGeom>
          <a:solidFill>
            <a:srgbClr val="1B2A4A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383280"/>
            <a:ext cx="4023360" cy="4023360"/>
          </a:xfrm>
          <a:prstGeom prst="ellipse">
            <a:avLst/>
          </a:prstGeom>
          <a:solidFill>
            <a:srgbClr val="C49A5A">
              <a:alpha val="16000"/>
            </a:srgbClr>
          </a:solidFill>
          <a:ln/>
        </p:spPr>
      </p:sp>
      <p:pic>
        <p:nvPicPr>
          <p:cNvPr id="4" name="Image 0" descr="/home/claude/biz/assets_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4480560" cy="12664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999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20" kern="0" dirty="0">
                <a:solidFill>
                  <a:srgbClr val="C4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PROPOSAL FOR YOUR BUSINESS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77240" y="3328416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miss another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message.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77240" y="4828032"/>
            <a:ext cx="1371600" cy="32004"/>
          </a:xfrm>
          <a:prstGeom prst="rect">
            <a:avLst/>
          </a:prstGeom>
          <a:solidFill>
            <a:srgbClr val="C49A5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99262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reply, qualify, and book — 24 hours a day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60533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8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Wahab Sarwar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7A8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Islamabad, Pakistan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4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69494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810512"/>
            <a:ext cx="493776" cy="493776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792224"/>
            <a:ext cx="419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12264"/>
            <a:ext cx="419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unanswered messages cost you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980944"/>
            <a:ext cx="493776" cy="493776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809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962656"/>
            <a:ext cx="419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chatbot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3282696"/>
            <a:ext cx="419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differs from what you've tried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4151376"/>
            <a:ext cx="493776" cy="493776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1513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4133088"/>
            <a:ext cx="419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4453128"/>
            <a:ext cx="419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Engage, execute, escalate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15888" y="1810512"/>
            <a:ext cx="493776" cy="493776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17" name="Text 15"/>
          <p:cNvSpPr/>
          <p:nvPr/>
        </p:nvSpPr>
        <p:spPr>
          <a:xfrm>
            <a:off x="6415888" y="18105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47408" y="1792224"/>
            <a:ext cx="419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your industry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47408" y="2112264"/>
            <a:ext cx="419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sectors, one platform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15888" y="2980944"/>
            <a:ext cx="493776" cy="493776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15888" y="29809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47408" y="2962656"/>
            <a:ext cx="419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Packages &amp; pricing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47408" y="3282696"/>
            <a:ext cx="419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tiers, transparent PKR pricing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15888" y="4151376"/>
            <a:ext cx="493776" cy="493776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25" name="Text 23"/>
          <p:cNvSpPr/>
          <p:nvPr/>
        </p:nvSpPr>
        <p:spPr>
          <a:xfrm>
            <a:off x="6415888" y="41513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147408" y="4133088"/>
            <a:ext cx="419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47408" y="4453128"/>
            <a:ext cx="419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call to live agent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" y="5486400"/>
            <a:ext cx="10637215" cy="10973"/>
          </a:xfrm>
          <a:prstGeom prst="rect">
            <a:avLst/>
          </a:prstGeom>
          <a:solidFill>
            <a:srgbClr val="DED6C9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724144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fifteen minutes — then your questions.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77240" y="634593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Vantriq AI — client proposal</a:t>
            </a:r>
            <a:endParaRPr lang="en-US" sz="950" dirty="0"/>
          </a:p>
        </p:txBody>
      </p:sp>
      <p:pic>
        <p:nvPicPr>
          <p:cNvPr id="31" name="Image 0" descr="/home/claude/biz/assets_icon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373368"/>
            <a:ext cx="182880" cy="18288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0680192" y="63459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Vantriq AI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1631168" y="63459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4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69494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customers message at midnight. Does anyone reply?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316736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is where business happens in Pakistan — but most businesses still answer it by hand.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883664"/>
            <a:ext cx="3301898" cy="1783080"/>
          </a:xfrm>
          <a:prstGeom prst="roundRect">
            <a:avLst>
              <a:gd name="adj" fmla="val 3077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25400" dir="5400000">
              <a:srgbClr val="9A9384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2176272"/>
            <a:ext cx="25338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~400%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61288" y="2724912"/>
            <a:ext cx="384048" cy="27432"/>
          </a:xfrm>
          <a:prstGeom prst="rect">
            <a:avLst/>
          </a:prstGeom>
          <a:solidFill>
            <a:srgbClr val="C49A5A"/>
          </a:solidFill>
          <a:ln/>
        </p:spPr>
      </p:sp>
      <p:sp>
        <p:nvSpPr>
          <p:cNvPr id="8" name="Text 6"/>
          <p:cNvSpPr/>
          <p:nvPr/>
        </p:nvSpPr>
        <p:spPr>
          <a:xfrm>
            <a:off x="1161288" y="2816352"/>
            <a:ext cx="2533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leads convert when you reply within two minutes instead of hours.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4898" y="1883664"/>
            <a:ext cx="3301898" cy="1783080"/>
          </a:xfrm>
          <a:prstGeom prst="roundRect">
            <a:avLst>
              <a:gd name="adj" fmla="val 3077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25400" dir="5400000">
              <a:srgbClr val="9A9384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28946" y="2176272"/>
            <a:ext cx="25338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20–30%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828946" y="2724912"/>
            <a:ext cx="384048" cy="27432"/>
          </a:xfrm>
          <a:prstGeom prst="rect">
            <a:avLst/>
          </a:prstGeom>
          <a:solidFill>
            <a:srgbClr val="C49A5A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946" y="2816352"/>
            <a:ext cx="2533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typically lost to after-hours and peak-rush messages that go unanswered.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12557" y="1883664"/>
            <a:ext cx="3301898" cy="1783080"/>
          </a:xfrm>
          <a:prstGeom prst="roundRect">
            <a:avLst>
              <a:gd name="adj" fmla="val 3077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25400" dir="5400000">
              <a:srgbClr val="9A9384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96605" y="2176272"/>
            <a:ext cx="25338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8496605" y="2724912"/>
            <a:ext cx="384048" cy="27432"/>
          </a:xfrm>
          <a:prstGeom prst="rect">
            <a:avLst/>
          </a:prstGeom>
          <a:solidFill>
            <a:srgbClr val="C49A5A"/>
          </a:solidFill>
          <a:ln/>
        </p:spPr>
      </p:sp>
      <p:sp>
        <p:nvSpPr>
          <p:cNvPr id="16" name="Text 14"/>
          <p:cNvSpPr/>
          <p:nvPr/>
        </p:nvSpPr>
        <p:spPr>
          <a:xfrm>
            <a:off x="8496605" y="2816352"/>
            <a:ext cx="2533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coverage your AI-equipped competitors already have — and you may not.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986784"/>
            <a:ext cx="10637215" cy="10973"/>
          </a:xfrm>
          <a:prstGeom prst="rect">
            <a:avLst/>
          </a:prstGeom>
          <a:solidFill>
            <a:srgbClr val="DED6C9"/>
          </a:solidFill>
          <a:ln/>
        </p:spPr>
      </p:sp>
      <p:pic>
        <p:nvPicPr>
          <p:cNvPr id="18" name="Image 0" descr="/home/claude/biz/assets_icon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261104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07592" y="4242816"/>
            <a:ext cx="99971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missed message is a customer who found someone faster. Vantriq AI answers in seconds — for a fraction of one salary.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77240" y="634593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industry benchmarks on speed-to-lead and after-hours response</a:t>
            </a:r>
            <a:endParaRPr lang="en-US" sz="950" dirty="0"/>
          </a:p>
        </p:txBody>
      </p:sp>
      <p:pic>
        <p:nvPicPr>
          <p:cNvPr id="21" name="Image 1" descr="/home/claude/biz/assets_icon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6373368"/>
            <a:ext cx="182880" cy="1828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0680192" y="63459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Vantriq AI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11631168" y="63459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4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69494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chatbot. Not another hire.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316736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honestly against the two things you're probably weighing instead.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865376"/>
            <a:ext cx="10634472" cy="402336"/>
          </a:xfrm>
          <a:prstGeom prst="rect">
            <a:avLst/>
          </a:prstGeom>
          <a:solidFill>
            <a:srgbClr val="24365C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186537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27832" y="1865376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E0C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staff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62472" y="1865376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E0C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chatbot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97112" y="1865376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E0C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Vantriq AI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41832" y="2267712"/>
            <a:ext cx="20299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 cost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27832" y="2267712"/>
            <a:ext cx="25786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140,000+/mo, 2–3 shifts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62472" y="2267712"/>
            <a:ext cx="25786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20,000–50,000/mo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97112" y="2267712"/>
            <a:ext cx="2423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your plan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752344"/>
            <a:ext cx="10634472" cy="484632"/>
          </a:xfrm>
          <a:prstGeom prst="rect">
            <a:avLst/>
          </a:prstGeom>
          <a:solidFill>
            <a:srgbClr val="16233D"/>
          </a:solidFill>
          <a:ln/>
        </p:spPr>
      </p:sp>
      <p:sp>
        <p:nvSpPr>
          <p:cNvPr id="15" name="Text 13"/>
          <p:cNvSpPr/>
          <p:nvPr/>
        </p:nvSpPr>
        <p:spPr>
          <a:xfrm>
            <a:off x="941832" y="2752344"/>
            <a:ext cx="20299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27832" y="2752344"/>
            <a:ext cx="25786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— but only on shift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62472" y="2752344"/>
            <a:ext cx="25786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only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897112" y="2752344"/>
            <a:ext cx="2423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language, any hour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41832" y="3236976"/>
            <a:ext cx="20299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Gets things done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27832" y="3236976"/>
            <a:ext cx="25786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Manually, yes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62472" y="3236976"/>
            <a:ext cx="25786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answers only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897112" y="3236976"/>
            <a:ext cx="2423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checks stock, updates CRM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7240" y="3721608"/>
            <a:ext cx="10634472" cy="484632"/>
          </a:xfrm>
          <a:prstGeom prst="rect">
            <a:avLst/>
          </a:prstGeom>
          <a:solidFill>
            <a:srgbClr val="16233D"/>
          </a:solidFill>
          <a:ln/>
        </p:spPr>
      </p:sp>
      <p:sp>
        <p:nvSpPr>
          <p:cNvPr id="24" name="Text 22"/>
          <p:cNvSpPr/>
          <p:nvPr/>
        </p:nvSpPr>
        <p:spPr>
          <a:xfrm>
            <a:off x="941832" y="3721608"/>
            <a:ext cx="20299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unexpected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27832" y="3721608"/>
            <a:ext cx="25786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it — until hour eight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62472" y="3721608"/>
            <a:ext cx="25786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or loops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897112" y="3721608"/>
            <a:ext cx="2423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new questions gracefully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41832" y="4206240"/>
            <a:ext cx="20299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27832" y="4206240"/>
            <a:ext cx="25786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with mood and fatigue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62472" y="4206240"/>
            <a:ext cx="25786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but rigid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897112" y="4206240"/>
            <a:ext cx="2423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and flexible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7240" y="4690872"/>
            <a:ext cx="10634472" cy="484632"/>
          </a:xfrm>
          <a:prstGeom prst="rect">
            <a:avLst/>
          </a:prstGeom>
          <a:solidFill>
            <a:srgbClr val="16233D"/>
          </a:solidFill>
          <a:ln/>
        </p:spPr>
      </p:sp>
      <p:sp>
        <p:nvSpPr>
          <p:cNvPr id="33" name="Text 31"/>
          <p:cNvSpPr/>
          <p:nvPr/>
        </p:nvSpPr>
        <p:spPr>
          <a:xfrm>
            <a:off x="941832" y="4690872"/>
            <a:ext cx="202996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run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227832" y="4690872"/>
            <a:ext cx="25786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Learns, then eventually leaves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062472" y="4690872"/>
            <a:ext cx="25786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until reprogrammed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897112" y="4690872"/>
            <a:ext cx="2423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monthly, stays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77240" y="5175504"/>
            <a:ext cx="10634472" cy="10973"/>
          </a:xfrm>
          <a:prstGeom prst="rect">
            <a:avLst/>
          </a:prstGeom>
          <a:solidFill>
            <a:srgbClr val="2E3C5A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34593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costs based on typical Pakistan market shift-coverage rates</a:t>
            </a:r>
            <a:endParaRPr lang="en-US" sz="950" dirty="0"/>
          </a:p>
        </p:txBody>
      </p:sp>
      <p:pic>
        <p:nvPicPr>
          <p:cNvPr id="39" name="Image 0" descr="/home/claude/biz/assets_icon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373368"/>
            <a:ext cx="182880" cy="18288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0680192" y="63459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Vantriq AI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11631168" y="63459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7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4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69494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your agent does, on repeat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316736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agent, configured around how your business actually runs.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01952"/>
            <a:ext cx="3301898" cy="2304288"/>
          </a:xfrm>
          <a:prstGeom prst="roundRect">
            <a:avLst>
              <a:gd name="adj" fmla="val 2381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25400" dir="5400000">
              <a:srgbClr val="9A938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61288" y="2267712"/>
            <a:ext cx="566928" cy="566928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7" name="Text 5"/>
          <p:cNvSpPr/>
          <p:nvPr/>
        </p:nvSpPr>
        <p:spPr>
          <a:xfrm>
            <a:off x="1161288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61288" y="2980944"/>
            <a:ext cx="2533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61288" y="3401568"/>
            <a:ext cx="25338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instantly on WhatsApp, Instagram, or your website — any hour, any volume, no queue.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34002" y="3072384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4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444898" y="1901952"/>
            <a:ext cx="3301898" cy="2304288"/>
          </a:xfrm>
          <a:prstGeom prst="roundRect">
            <a:avLst>
              <a:gd name="adj" fmla="val 2381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25400" dir="5400000">
              <a:srgbClr val="9A9384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28946" y="2267712"/>
            <a:ext cx="566928" cy="566928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946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28946" y="2980944"/>
            <a:ext cx="2533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28946" y="3401568"/>
            <a:ext cx="25338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the appointment, shares the catalogue, checks availability, logs the lead in your CRM.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01661" y="3072384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4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112557" y="1901952"/>
            <a:ext cx="3301898" cy="2304288"/>
          </a:xfrm>
          <a:prstGeom prst="roundRect">
            <a:avLst>
              <a:gd name="adj" fmla="val 2381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25400" dir="5400000">
              <a:srgbClr val="9A9384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96605" y="2267712"/>
            <a:ext cx="566928" cy="566928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19" name="Text 17"/>
          <p:cNvSpPr/>
          <p:nvPr/>
        </p:nvSpPr>
        <p:spPr>
          <a:xfrm>
            <a:off x="8496605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96605" y="2980944"/>
            <a:ext cx="25338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96605" y="3401568"/>
            <a:ext cx="253380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to your team the moment judgement is needed — with the full conversation attached.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" y="634593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partner — strategy, build, and ongoing management</a:t>
            </a:r>
            <a:endParaRPr lang="en-US" sz="950" dirty="0"/>
          </a:p>
        </p:txBody>
      </p:sp>
      <p:pic>
        <p:nvPicPr>
          <p:cNvPr id="23" name="Image 0" descr="/home/claude/biz/assets_icon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373368"/>
            <a:ext cx="182880" cy="1828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0680192" y="63459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Vantriq AI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1631168" y="63459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4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APPLIES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69494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your industry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316736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core agent, tuned to the workflow of each sector.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01952"/>
            <a:ext cx="1937248" cy="1572768"/>
          </a:xfrm>
          <a:prstGeom prst="roundRect">
            <a:avLst>
              <a:gd name="adj" fmla="val 3488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25400" dir="5400000">
              <a:srgbClr val="9A938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94560"/>
            <a:ext cx="182880" cy="182880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468880"/>
            <a:ext cx="138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&amp; Retail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926080"/>
            <a:ext cx="138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Catalogue, cart recovery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52232" y="1901952"/>
            <a:ext cx="1937248" cy="1572768"/>
          </a:xfrm>
          <a:prstGeom prst="roundRect">
            <a:avLst>
              <a:gd name="adj" fmla="val 3488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25400" dir="5400000">
              <a:srgbClr val="9A938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6552" y="2194560"/>
            <a:ext cx="182880" cy="182880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11" name="Text 9"/>
          <p:cNvSpPr/>
          <p:nvPr/>
        </p:nvSpPr>
        <p:spPr>
          <a:xfrm>
            <a:off x="3226552" y="2468880"/>
            <a:ext cx="138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Estate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26552" y="2926080"/>
            <a:ext cx="138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Matching, site visits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7224" y="1901952"/>
            <a:ext cx="1937248" cy="1572768"/>
          </a:xfrm>
          <a:prstGeom prst="roundRect">
            <a:avLst>
              <a:gd name="adj" fmla="val 3488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25400" dir="5400000">
              <a:srgbClr val="9A9384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01544" y="2194560"/>
            <a:ext cx="182880" cy="182880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15" name="Text 13"/>
          <p:cNvSpPr/>
          <p:nvPr/>
        </p:nvSpPr>
        <p:spPr>
          <a:xfrm>
            <a:off x="5401544" y="2468880"/>
            <a:ext cx="138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01544" y="2926080"/>
            <a:ext cx="138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Booking, follow-up care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02216" y="1901952"/>
            <a:ext cx="1937248" cy="1572768"/>
          </a:xfrm>
          <a:prstGeom prst="roundRect">
            <a:avLst>
              <a:gd name="adj" fmla="val 3488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25400" dir="5400000">
              <a:srgbClr val="9A9384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576536" y="2194560"/>
            <a:ext cx="182880" cy="182880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19" name="Text 17"/>
          <p:cNvSpPr/>
          <p:nvPr/>
        </p:nvSpPr>
        <p:spPr>
          <a:xfrm>
            <a:off x="7576536" y="2468880"/>
            <a:ext cx="138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76536" y="2926080"/>
            <a:ext cx="138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Admissions, fee reminders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477207" y="1901952"/>
            <a:ext cx="1937248" cy="1572768"/>
          </a:xfrm>
          <a:prstGeom prst="roundRect">
            <a:avLst>
              <a:gd name="adj" fmla="val 3488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25400" dir="5400000">
              <a:srgbClr val="9A9384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751527" y="2194560"/>
            <a:ext cx="182880" cy="182880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23" name="Text 21"/>
          <p:cNvSpPr/>
          <p:nvPr/>
        </p:nvSpPr>
        <p:spPr>
          <a:xfrm>
            <a:off x="9751527" y="2468880"/>
            <a:ext cx="138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751527" y="2926080"/>
            <a:ext cx="138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Ordering, reservations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" y="3730752"/>
            <a:ext cx="1937248" cy="1572768"/>
          </a:xfrm>
          <a:prstGeom prst="roundRect">
            <a:avLst>
              <a:gd name="adj" fmla="val 3488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25400" dir="5400000">
              <a:srgbClr val="9A9384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51560" y="4023360"/>
            <a:ext cx="182880" cy="182880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4297680"/>
            <a:ext cx="138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&amp; Consulting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4754880"/>
            <a:ext cx="138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document collection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952232" y="3730752"/>
            <a:ext cx="1937248" cy="1572768"/>
          </a:xfrm>
          <a:prstGeom prst="roundRect">
            <a:avLst>
              <a:gd name="adj" fmla="val 3488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25400" dir="5400000">
              <a:srgbClr val="9A9384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26552" y="4023360"/>
            <a:ext cx="182880" cy="182880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31" name="Text 29"/>
          <p:cNvSpPr/>
          <p:nvPr/>
        </p:nvSpPr>
        <p:spPr>
          <a:xfrm>
            <a:off x="3226552" y="4297680"/>
            <a:ext cx="138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&amp; Tourism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26552" y="4754880"/>
            <a:ext cx="138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Itineraries, booking status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27224" y="3730752"/>
            <a:ext cx="1937248" cy="1572768"/>
          </a:xfrm>
          <a:prstGeom prst="roundRect">
            <a:avLst>
              <a:gd name="adj" fmla="val 3488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25400" dir="5400000">
              <a:srgbClr val="9A9384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01544" y="4023360"/>
            <a:ext cx="182880" cy="182880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35" name="Text 33"/>
          <p:cNvSpPr/>
          <p:nvPr/>
        </p:nvSpPr>
        <p:spPr>
          <a:xfrm>
            <a:off x="5401544" y="4297680"/>
            <a:ext cx="138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&amp; Operations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01544" y="4754880"/>
            <a:ext cx="138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leave requests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02216" y="3730752"/>
            <a:ext cx="1937248" cy="1572768"/>
          </a:xfrm>
          <a:prstGeom prst="roundRect">
            <a:avLst>
              <a:gd name="adj" fmla="val 3488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25400" dir="5400000">
              <a:srgbClr val="9A9384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76536" y="4023360"/>
            <a:ext cx="182880" cy="182880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39" name="Text 37"/>
          <p:cNvSpPr/>
          <p:nvPr/>
        </p:nvSpPr>
        <p:spPr>
          <a:xfrm>
            <a:off x="7576536" y="4297680"/>
            <a:ext cx="138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Agencies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576536" y="4754880"/>
            <a:ext cx="138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Comment-to-DM, scoring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477207" y="3730752"/>
            <a:ext cx="1937248" cy="1572768"/>
          </a:xfrm>
          <a:prstGeom prst="roundRect">
            <a:avLst>
              <a:gd name="adj" fmla="val 3488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25400" dir="5400000">
              <a:srgbClr val="9A9384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751527" y="4023360"/>
            <a:ext cx="182880" cy="182880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43" name="Text 41"/>
          <p:cNvSpPr/>
          <p:nvPr/>
        </p:nvSpPr>
        <p:spPr>
          <a:xfrm>
            <a:off x="9751527" y="4297680"/>
            <a:ext cx="138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751527" y="4754880"/>
            <a:ext cx="138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tracking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7240" y="634593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listed? The agent adapts — ask us about your workflow</a:t>
            </a:r>
            <a:endParaRPr lang="en-US" sz="950" dirty="0"/>
          </a:p>
        </p:txBody>
      </p:sp>
      <p:pic>
        <p:nvPicPr>
          <p:cNvPr id="46" name="Image 0" descr="/home/claude/biz/assets_icon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373368"/>
            <a:ext cx="182880" cy="18288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10680192" y="63459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Vantriq AI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11631168" y="63459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4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69494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Enterprise-grade, without the enterprise headache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316736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touch the infrastructure — we run, monitor, and tune all of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090008" cy="1700784"/>
          </a:xfrm>
          <a:prstGeom prst="roundRect">
            <a:avLst>
              <a:gd name="adj" fmla="val 3226"/>
            </a:avLst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286000"/>
            <a:ext cx="457200" cy="457200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28216" y="2267712"/>
            <a:ext cx="3773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AI models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28216" y="2743200"/>
            <a:ext cx="3773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behind every reply, matched to your business's complexity and data sensitivity.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24448" y="1920240"/>
            <a:ext cx="5090008" cy="1700784"/>
          </a:xfrm>
          <a:prstGeom prst="roundRect">
            <a:avLst>
              <a:gd name="adj" fmla="val 3226"/>
            </a:avLst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6690208" y="2286000"/>
            <a:ext cx="457200" cy="457200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12" name="Text 10"/>
          <p:cNvSpPr/>
          <p:nvPr/>
        </p:nvSpPr>
        <p:spPr>
          <a:xfrm>
            <a:off x="669020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75424" y="2267712"/>
            <a:ext cx="3773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automation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75424" y="2743200"/>
            <a:ext cx="3773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your calendar, CRM, and inventory so actions actually happen — not just chat.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931920"/>
            <a:ext cx="5090008" cy="1700784"/>
          </a:xfrm>
          <a:prstGeom prst="roundRect">
            <a:avLst>
              <a:gd name="adj" fmla="val 3226"/>
            </a:avLst>
          </a:prstGeom>
          <a:solidFill>
            <a:srgbClr val="1B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3000" y="4297680"/>
            <a:ext cx="457200" cy="457200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28216" y="4279392"/>
            <a:ext cx="3773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data handling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28216" y="4754880"/>
            <a:ext cx="3773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simple catalogues to enterprise databases, including fully private on-premise options.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24448" y="3931920"/>
            <a:ext cx="5090008" cy="1700784"/>
          </a:xfrm>
          <a:prstGeom prst="roundRect">
            <a:avLst>
              <a:gd name="adj" fmla="val 3226"/>
            </a:avLst>
          </a:prstGeom>
          <a:solidFill>
            <a:srgbClr val="1B2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6690208" y="4297680"/>
            <a:ext cx="457200" cy="457200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22" name="Text 20"/>
          <p:cNvSpPr/>
          <p:nvPr/>
        </p:nvSpPr>
        <p:spPr>
          <a:xfrm>
            <a:off x="6690208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75424" y="4279392"/>
            <a:ext cx="3773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customers already are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75424" y="4754880"/>
            <a:ext cx="3773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2C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Instagram, Facebook — no app downloads, no new habits to teach.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634593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Private, self-hosted deployment available for strict data-residency requirements</a:t>
            </a:r>
            <a:endParaRPr lang="en-US" sz="950" dirty="0"/>
          </a:p>
        </p:txBody>
      </p:sp>
      <p:pic>
        <p:nvPicPr>
          <p:cNvPr id="26" name="Image 0" descr="/home/claude/biz/assets_icon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373368"/>
            <a:ext cx="182880" cy="1828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680192" y="63459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Vantriq AI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631168" y="63459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7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4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&amp; PRICING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69494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tiers. One clear path as you grow.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316736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one-time setup fee plus a simple monthly plan — priced in PKR, no USD surprises.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865376"/>
            <a:ext cx="10634472" cy="402336"/>
          </a:xfrm>
          <a:prstGeom prst="rect">
            <a:avLst/>
          </a:prstGeom>
          <a:solidFill>
            <a:srgbClr val="F1EDE6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1865376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C4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24912" y="186537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" kern="0" dirty="0">
                <a:solidFill>
                  <a:srgbClr val="C4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62272" y="1865376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" kern="0" dirty="0">
                <a:solidFill>
                  <a:srgbClr val="C4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plan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28232" y="1865376"/>
            <a:ext cx="2532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C4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217152" y="186537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C4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41832" y="2267712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24912" y="226771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30,000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62272" y="226771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20,000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28232" y="2267712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217152" y="22677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only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2770632"/>
            <a:ext cx="10634472" cy="50292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17" name="Text 15"/>
          <p:cNvSpPr/>
          <p:nvPr/>
        </p:nvSpPr>
        <p:spPr>
          <a:xfrm>
            <a:off x="941832" y="2770632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24912" y="277063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60,000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62272" y="277063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55,000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28232" y="2770632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corporate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217152" y="27706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CRM sync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41832" y="3273552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724912" y="327355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90,000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62272" y="327355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70,000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28232" y="3273552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business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217152" y="32735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Website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7240" y="3776472"/>
            <a:ext cx="10634472" cy="50292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28" name="Text 26"/>
          <p:cNvSpPr/>
          <p:nvPr/>
        </p:nvSpPr>
        <p:spPr>
          <a:xfrm>
            <a:off x="941832" y="3776472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724912" y="377647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130,000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462272" y="377647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110,000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28232" y="3776472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corporate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217152" y="37764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Top-tier AI, multi-channel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7240" y="4279392"/>
            <a:ext cx="10634472" cy="502920"/>
          </a:xfrm>
          <a:prstGeom prst="rect">
            <a:avLst/>
          </a:prstGeom>
          <a:solidFill>
            <a:srgbClr val="C49A5A"/>
          </a:solidFill>
          <a:ln/>
        </p:spPr>
      </p:sp>
      <p:sp>
        <p:nvSpPr>
          <p:cNvPr id="34" name="Text 32"/>
          <p:cNvSpPr/>
          <p:nvPr/>
        </p:nvSpPr>
        <p:spPr>
          <a:xfrm>
            <a:off x="941832" y="4279392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724912" y="427939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150,000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462272" y="427939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150,000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28232" y="4279392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enterprise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217152" y="42793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private on-prem option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77240" y="4782312"/>
            <a:ext cx="10634472" cy="502920"/>
          </a:xfrm>
          <a:prstGeom prst="rect">
            <a:avLst/>
          </a:prstGeom>
          <a:solidFill>
            <a:srgbClr val="F7F3EC"/>
          </a:solidFill>
          <a:ln/>
        </p:spPr>
      </p:sp>
      <p:sp>
        <p:nvSpPr>
          <p:cNvPr id="40" name="Text 38"/>
          <p:cNvSpPr/>
          <p:nvPr/>
        </p:nvSpPr>
        <p:spPr>
          <a:xfrm>
            <a:off x="941832" y="4782312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Enterprise+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724912" y="4782312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200,000+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462272" y="4782312"/>
            <a:ext cx="1709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200,000+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428232" y="4782312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volume, custom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217152" y="47823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SLA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77240" y="5285232"/>
            <a:ext cx="10634472" cy="10973"/>
          </a:xfrm>
          <a:prstGeom prst="rect">
            <a:avLst/>
          </a:prstGeom>
          <a:solidFill>
            <a:srgbClr val="DED6C9"/>
          </a:solidFill>
          <a:ln/>
        </p:spPr>
      </p:sp>
      <p:sp>
        <p:nvSpPr>
          <p:cNvPr id="46" name="Text 44"/>
          <p:cNvSpPr/>
          <p:nvPr/>
        </p:nvSpPr>
        <p:spPr>
          <a:xfrm>
            <a:off x="777240" y="5742432"/>
            <a:ext cx="10637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 includes a generous monthly conversation allowance, monthly tuning, and support — no surprise charges for normal business volume.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77240" y="634593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subscription is billed to you directly by the provider</a:t>
            </a:r>
            <a:endParaRPr lang="en-US" sz="950" dirty="0"/>
          </a:p>
        </p:txBody>
      </p:sp>
      <p:pic>
        <p:nvPicPr>
          <p:cNvPr id="48" name="Image 0" descr="/home/claude/biz/assets_icon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373368"/>
            <a:ext cx="182880" cy="18288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10680192" y="63459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Vantriq AI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11631168" y="63459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49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VANTRIQ AI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69494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local partner, not a faceless subscription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316736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actually buying beyond the software.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090008" cy="1737360"/>
          </a:xfrm>
          <a:prstGeom prst="roundRect">
            <a:avLst>
              <a:gd name="adj" fmla="val 3158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25400" dir="5400000">
              <a:srgbClr val="9A938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61288" y="2304288"/>
            <a:ext cx="201168" cy="201168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7" name="Text 5"/>
          <p:cNvSpPr/>
          <p:nvPr/>
        </p:nvSpPr>
        <p:spPr>
          <a:xfrm>
            <a:off x="1161288" y="2596896"/>
            <a:ext cx="432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you, not off the shelf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61288" y="3017520"/>
            <a:ext cx="432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is configured to your workflow, catalogue, and tone — not a template with your logo on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920240"/>
            <a:ext cx="5090008" cy="1737360"/>
          </a:xfrm>
          <a:prstGeom prst="roundRect">
            <a:avLst>
              <a:gd name="adj" fmla="val 3158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25400" dir="5400000">
              <a:srgbClr val="9A938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08496" y="2304288"/>
            <a:ext cx="201168" cy="201168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11" name="Text 9"/>
          <p:cNvSpPr/>
          <p:nvPr/>
        </p:nvSpPr>
        <p:spPr>
          <a:xfrm>
            <a:off x="6708496" y="2596896"/>
            <a:ext cx="432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relationship, not a dashboard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708496" y="3017520"/>
            <a:ext cx="432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local team manages, tunes, and improves your agent every single month.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950208"/>
            <a:ext cx="5090008" cy="1737360"/>
          </a:xfrm>
          <a:prstGeom prst="roundRect">
            <a:avLst>
              <a:gd name="adj" fmla="val 3158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25400" dir="5400000">
              <a:srgbClr val="9A9384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61288" y="4334256"/>
            <a:ext cx="201168" cy="201168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15" name="Text 13"/>
          <p:cNvSpPr/>
          <p:nvPr/>
        </p:nvSpPr>
        <p:spPr>
          <a:xfrm>
            <a:off x="1161288" y="4626864"/>
            <a:ext cx="432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Priced in PKR, built for Pakistan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161288" y="5047488"/>
            <a:ext cx="432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confusing USD billing, no overseas support hours, no timezone gap when something breaks.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24448" y="3950208"/>
            <a:ext cx="5090008" cy="1737360"/>
          </a:xfrm>
          <a:prstGeom prst="roundRect">
            <a:avLst>
              <a:gd name="adj" fmla="val 3158"/>
            </a:avLst>
          </a:prstGeom>
          <a:solidFill>
            <a:srgbClr val="F1EDE6"/>
          </a:solidFill>
          <a:ln/>
          <a:effectLst>
            <a:outerShdw sx="100000" sy="100000" kx="0" ky="0" algn="bl" rotWithShape="0" blurRad="88900" dist="25400" dir="5400000">
              <a:srgbClr val="9A9384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08496" y="4334256"/>
            <a:ext cx="201168" cy="201168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19" name="Text 17"/>
          <p:cNvSpPr/>
          <p:nvPr/>
        </p:nvSpPr>
        <p:spPr>
          <a:xfrm>
            <a:off x="6708496" y="4626864"/>
            <a:ext cx="4321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experience, SME flexibility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708496" y="5047488"/>
            <a:ext cx="432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 years running enterprise and government accounts, applied to businesses of every size.</a:t>
            </a:r>
            <a:endParaRPr lang="en-US" sz="1200" dirty="0"/>
          </a:p>
        </p:txBody>
      </p:sp>
      <p:pic>
        <p:nvPicPr>
          <p:cNvPr id="21" name="Image 0" descr="/home/claude/biz/assets_icon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48" y="6373368"/>
            <a:ext cx="182880" cy="1828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680192" y="63459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Vantriq AI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1631168" y="63459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B2A4A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657600"/>
            <a:ext cx="3474720" cy="3474720"/>
          </a:xfrm>
          <a:prstGeom prst="ellipse">
            <a:avLst/>
          </a:prstGeom>
          <a:solidFill>
            <a:srgbClr val="C49A5A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9601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get started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1700784"/>
            <a:ext cx="1097280" cy="32004"/>
          </a:xfrm>
          <a:prstGeom prst="rect">
            <a:avLst/>
          </a:prstGeom>
          <a:solidFill>
            <a:srgbClr val="C49A5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48256"/>
            <a:ext cx="402336" cy="402336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48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80744" y="2048256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 — we map your customer workflow and where AI adds the most value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651760"/>
            <a:ext cx="402336" cy="402336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80744" y="2651760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&amp; scope — a fixed setup fee and monthly plan, in writing, no surprises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255264"/>
            <a:ext cx="402336" cy="402336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55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80744" y="3255264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configure — your agent trained on your catalogue, FAQs, and booking rules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3858768"/>
            <a:ext cx="402336" cy="402336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80744" y="3858768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launch — we run it alongside your team before it goes fully live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4462272"/>
            <a:ext cx="402336" cy="402336"/>
          </a:xfrm>
          <a:prstGeom prst="ellipse">
            <a:avLst/>
          </a:prstGeom>
          <a:solidFill>
            <a:srgbClr val="C49A5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80744" y="4462272"/>
            <a:ext cx="9692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management — monthly tuning, reporting, and support included in your plan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5285232"/>
            <a:ext cx="10637215" cy="10973"/>
          </a:xfrm>
          <a:prstGeom prst="rect">
            <a:avLst/>
          </a:prstGeom>
          <a:solidFill>
            <a:srgbClr val="2E3C5A"/>
          </a:solidFill>
          <a:ln/>
        </p:spPr>
      </p:sp>
      <p:pic>
        <p:nvPicPr>
          <p:cNvPr id="22" name="Image 0" descr="/home/claude/biz/assets_icon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77840"/>
            <a:ext cx="402336" cy="40233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44168" y="55778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talk.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344168" y="60167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Vantriq AI  ·  Intelligent automation for business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2026-08-14T11:06:40Z</dcterms:created>
  <dcterms:modified xsi:type="dcterms:W3CDTF">2026-08-14T11:06:40Z</dcterms:modified>
</cp:coreProperties>
</file>